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Hello judges and mentors. We are Team Thor presenting Wildfire Equity Map for the Wildcard Track.</a:t>
            </a:r>
          </a:p>
          <a:p>
            <a:r>
              <a:t>Across California, two neighboring communities frequently face the exact same physical wildfire risk. Yet one community pays significantly higher insurance premiums, or gets non-renewed entirely.</a:t>
            </a:r>
          </a:p>
          <a:p>
            <a:r>
              <a:t>Until now, there was no independent tool to determine whether these pricing gaps are justified by physical hazards, or represent unexplained socioeconomic disparity.</a:t>
            </a:r>
          </a:p>
          <a:p>
            <a:r>
              <a:t>We built that actuarial auditing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California is facing an escalating insurance crisis. Insurers are pulling out of counties and doubling premiums.</a:t>
            </a:r>
          </a:p>
          <a:p>
            <a:r>
              <a:t>The core issue is opacity: public debate assumes premium spikes reflect pure actuarial physics.</a:t>
            </a:r>
          </a:p>
          <a:p>
            <a:r>
              <a:t>However, regulators and homeowners have no objective way to separate legitimate risk-cost differences from unexplained socioeconomic disparities.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Wildfire Equity Map solves this by decoupling physical risk from market outcomes.</a:t>
            </a:r>
          </a:p>
          <a:p>
            <a:r>
              <a:t>Step one: we train a machine learning hazard model that sees only environmental variables—fuel, slope, and weather—with strictly zero demographic inputs.</a:t>
            </a:r>
          </a:p>
          <a:p>
            <a:r>
              <a:t>Step two: we run econometric audits that control for physical risk, structural building vintage, verified mitigation, and coverage amounts, revealing any unexplained disparity.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how the automated pipeline flows.</a:t>
            </a:r>
          </a:p>
          <a:p>
            <a:r>
              <a:t>With one command, python run_all.py, the system ingests data, fits the temporal environmental risk model, runs clustered econometric regressions to detect pricing penalties, renders the interactive UI, and writes immutable audit logs with SHA-256 lineage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validation proves the audit tool works.</a:t>
            </a:r>
          </a:p>
          <a:p>
            <a:r>
              <a:t>To benchmark detection accuracy, we planted a known ground-truth synthetic penalty of +0.150 log-points.</a:t>
            </a:r>
          </a:p>
          <a:p>
            <a:r>
              <a:t>Our econometric model recovered +0.160, squarely within the 95% confidence interval of 0.126 to 0.194.</a:t>
            </a:r>
          </a:p>
          <a:p>
            <a:r>
              <a:t>For the lowest income quintile, the unexplained premium penalty evaluates to +17.4%, while non-renewals are 2.01 times higher than top-income tracts.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requires scientific rigor.</a:t>
            </a:r>
          </a:p>
          <a:p>
            <a:r>
              <a:t>Our hazard model was validated out-of-time on unseen future fire seasons, scoring an AUC of 0.720 and a positive Brier skill score.</a:t>
            </a:r>
          </a:p>
          <a:p>
            <a:r>
              <a:t>To verify our audit doesn't create spurious disparities, we ran a 500-iteration tract-level randomized income placebo test.</a:t>
            </a:r>
          </a:p>
          <a:p>
            <a:r>
              <a:t>The mean detected gap centered at +0.04% with a 5.8% false-positive rate, matching statistical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Streamlit dashboard allows insurance commissioners and citizens to inspect disparities visually.</a:t>
            </a:r>
          </a:p>
          <a:p>
            <a:r>
              <a:t>Users can view California Census tract choropleth layers, explore risk versus premium scatter plots, and simulate property-level mitigation savings through an actuarial counterfactual calculator.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draw a strict, honest line between what ran and our production design.</a:t>
            </a:r>
          </a:p>
          <a:p>
            <a:r>
              <a:t>On the left: we deployed and ran the complete analytical pipeline and Snap ML benchmarks on the LinuxONE Community Cloud virtual machine.</a:t>
            </a:r>
          </a:p>
          <a:p>
            <a:r>
              <a:t>On the right: our enterprise production roadmap. In production, policy data stays secure inside IBM Db2 for z/OS, transaction scoring runs on the Telum AI coprocessor via ONNX, and compliance tracking integrates into watsonx.governance.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Responsible AI is central to our project.</a:t>
            </a:r>
          </a:p>
          <a:p>
            <a:r>
              <a:t>First, demographics are strictly quarantined and never used to calculate wildfire risk.</a:t>
            </a:r>
          </a:p>
          <a:p>
            <a:r>
              <a:t>Second, detected disparities are screening flags for regulatory review, not legal proof of intent.</a:t>
            </a:r>
          </a:p>
          <a:p>
            <a:r>
              <a:t>Third, we disclose that underwriting records are synthetic placeholders on real Census boundaries, limiting real-world insurer assertions.</a:t>
            </a:r>
          </a:p>
          <a:p>
            <a:r>
              <a:t>Finally, unobserved factors like roof type may explain part of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impact of this tool spans three major groups:</a:t>
            </a:r>
          </a:p>
          <a:p>
            <a:r>
              <a:t>Regulators can audit rate filings automatically. Insurers can proactively verify compliance with fair rate laws. And homeowners can see the dollar value of fire hardening.</a:t>
            </a:r>
          </a:p>
          <a:p>
            <a:r>
              <a:t>Next steps include partnering on state insurance filing data and running continuous in-database audits natively inside Db2 on IBM 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Wildfire Equity Map ensures that as climate risk intensifies, insurance costs are distributed fairly, transparently, and backed by verifiable data.</a:t>
            </a:r>
          </a:p>
          <a:p>
            <a:r>
              <a:t>Our entire codebase, data pipelines, and documentation are public on GitHub at github.com/thor11223344/Flare-AI.</a:t>
            </a:r>
          </a:p>
          <a:p>
            <a:r>
              <a:t>We gratefully acknowledge Antigravity AI assistance in development.</a:t>
            </a:r>
          </a:p>
          <a:p>
            <a:r>
              <a:t>Thank you for your time, and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WILDFIRE EQUITY MAP</a:t>
            </a:r>
          </a:p>
          <a:p>
            <a:pPr>
              <a:spcBef>
                <a:spcPts val="1400"/>
              </a:spcBef>
              <a:defRPr sz="2100">
                <a:solidFill>
                  <a:srgbClr val="00D2D3"/>
                </a:solidFill>
              </a:defRPr>
            </a:pPr>
            <a:r>
              <a:t>Two neighborhoods face the same fire risk. One pays more. We built the tool that shows why.</a:t>
            </a:r>
          </a:p>
          <a:p>
            <a:pPr>
              <a:spcBef>
                <a:spcPts val="3200"/>
              </a:spcBef>
              <a:defRPr sz="1400">
                <a:solidFill>
                  <a:srgbClr val="94A3B8"/>
                </a:solidFill>
              </a:defRPr>
            </a:pPr>
            <a:r>
              <a:t>Team Thor | Track: Wildcard (Beyond the Obvious) | IBM Z Datathon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THE PROBLEM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The Climate Insurance Crisis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84048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6B4A"/>
                </a:solidFill>
              </a:defRPr>
            </a:pPr>
            <a:r>
              <a:t>SURGING PREMIUMS &amp; DROPS</a:t>
            </a:r>
          </a:p>
          <a:p>
            <a:pPr>
              <a:spcBef>
                <a:spcPts val="1600"/>
              </a:spcBef>
              <a:defRPr sz="1700">
                <a:solidFill>
                  <a:srgbClr val="FFFFFF"/>
                </a:solidFill>
              </a:defRPr>
            </a:pPr>
            <a:r>
              <a:t>Wildfire premium spikes and non-renewals accelerate across California.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5120640" cy="384048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D2D3"/>
                </a:solidFill>
              </a:defRPr>
            </a:pPr>
            <a:r>
              <a:t>CONFLATED RISK &amp; PRICING</a:t>
            </a:r>
          </a:p>
          <a:p>
            <a:pPr>
              <a:spcBef>
                <a:spcPts val="1600"/>
              </a:spcBef>
              <a:defRPr sz="1700">
                <a:solidFill>
                  <a:srgbClr val="FFFFFF"/>
                </a:solidFill>
              </a:defRPr>
            </a:pPr>
            <a:r>
              <a:t>No tool isolates risk-justified costs from unexplained pricing disparity.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OUR SOLUTION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Decoupled Hazard &amp; Equity Auditing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84048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62FE"/>
                </a:solidFill>
              </a:defRPr>
            </a:pPr>
            <a:r>
              <a:t>PHYSICAL RISK MODEL</a:t>
            </a:r>
          </a:p>
          <a:p>
            <a:pPr>
              <a:spcBef>
                <a:spcPts val="1600"/>
              </a:spcBef>
              <a:defRPr sz="1700">
                <a:solidFill>
                  <a:srgbClr val="FFFFFF"/>
                </a:solidFill>
              </a:defRPr>
            </a:pPr>
            <a:r>
              <a:t>Environmental features only: slope, vegetation, weather. Zero demographics.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5120640" cy="384048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ED573"/>
                </a:solidFill>
              </a:defRPr>
            </a:pPr>
            <a:r>
              <a:t>EQUITY AUDIT</a:t>
            </a:r>
          </a:p>
          <a:p>
            <a:pPr>
              <a:spcBef>
                <a:spcPts val="1600"/>
              </a:spcBef>
              <a:defRPr sz="1700">
                <a:solidFill>
                  <a:srgbClr val="FFFFFF"/>
                </a:solidFill>
              </a:defRPr>
            </a:pPr>
            <a:r>
              <a:t>Controls for hazard, home age, mitigation, and coverage to isolate bias.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SYSTEM PIPELINE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End-to-End Auditing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874519" cy="2926080"/>
          </a:xfrm>
          <a:prstGeom prst="roundRect">
            <a:avLst/>
          </a:prstGeom>
          <a:solidFill>
            <a:srgbClr val="14203C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D3"/>
                </a:solidFill>
              </a:defRPr>
            </a:pPr>
            <a:r>
              <a:t>1. Data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Tract Features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79191" y="3566160"/>
            <a:ext cx="219456" cy="274320"/>
          </a:xfrm>
          <a:prstGeom prst="rightArrow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799" y="2377440"/>
            <a:ext cx="1874519" cy="2926080"/>
          </a:xfrm>
          <a:prstGeom prst="roundRect">
            <a:avLst/>
          </a:prstGeom>
          <a:solidFill>
            <a:srgbClr val="14203C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D3"/>
                </a:solidFill>
              </a:defRPr>
            </a:pPr>
            <a:r>
              <a:t>2. Risk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Hazard Model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19470" y="3566160"/>
            <a:ext cx="219456" cy="274320"/>
          </a:xfrm>
          <a:prstGeom prst="rightArrow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78" y="2377440"/>
            <a:ext cx="1874519" cy="2926080"/>
          </a:xfrm>
          <a:prstGeom prst="roundRect">
            <a:avLst/>
          </a:prstGeom>
          <a:solidFill>
            <a:srgbClr val="14203C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D3"/>
                </a:solidFill>
              </a:defRPr>
            </a:pPr>
            <a:r>
              <a:t>3. Audit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Controls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159749" y="3566160"/>
            <a:ext cx="219456" cy="274320"/>
          </a:xfrm>
          <a:prstGeom prst="rightArrow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57" y="2377440"/>
            <a:ext cx="1874519" cy="2926080"/>
          </a:xfrm>
          <a:prstGeom prst="roundRect">
            <a:avLst/>
          </a:prstGeom>
          <a:solidFill>
            <a:srgbClr val="14203C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D3"/>
                </a:solidFill>
              </a:defRPr>
            </a:pPr>
            <a:r>
              <a:t>4. UI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400028" y="3566160"/>
            <a:ext cx="219456" cy="274320"/>
          </a:xfrm>
          <a:prstGeom prst="rightArrow">
            <a:avLst/>
          </a:prstGeom>
          <a:solidFill>
            <a:srgbClr val="00D2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36" y="2377440"/>
            <a:ext cx="1874519" cy="2926080"/>
          </a:xfrm>
          <a:prstGeom prst="roundRect">
            <a:avLst/>
          </a:prstGeom>
          <a:solidFill>
            <a:srgbClr val="14203C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D3"/>
                </a:solidFill>
              </a:defRPr>
            </a:pPr>
            <a:r>
              <a:t>5. Trust</a:t>
            </a:r>
          </a:p>
          <a:p>
            <a:pPr>
              <a:spcBef>
                <a:spcPts val="1600"/>
              </a:spcBef>
              <a:defRPr sz="1400">
                <a:solidFill>
                  <a:srgbClr val="FFFFFF"/>
                </a:solidFill>
              </a:defRPr>
            </a:pPr>
            <a:r>
              <a:t>Audit Factsheet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</a:defRPr>
            </a:pPr>
            <a:r>
              <a:t>Single-command execution: python run_all.py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AUDIT RESULTS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Methodology Recovery &amp; Disparities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02336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62FE"/>
                </a:solidFill>
              </a:defRPr>
            </a:pPr>
            <a:r>
              <a:t>PLANTED RECOVERY</a:t>
            </a:r>
          </a:p>
          <a:p>
            <a:pPr>
              <a:spcBef>
                <a:spcPts val="800"/>
              </a:spcBef>
              <a:defRPr sz="3600" b="1">
                <a:solidFill>
                  <a:srgbClr val="2ED573"/>
                </a:solidFill>
              </a:defRPr>
            </a:pPr>
            <a:r>
              <a:t>+0.160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Planted: +0.150</a:t>
            </a:r>
            <a:br/>
            <a:r>
              <a:t>95% CI: [0.126, 0.194]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291840" cy="402336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62FE"/>
                </a:solidFill>
              </a:defRPr>
            </a:pPr>
            <a:r>
              <a:t>UNEXPLAINED Q1 GAP</a:t>
            </a:r>
          </a:p>
          <a:p>
            <a:pPr>
              <a:spcBef>
                <a:spcPts val="800"/>
              </a:spcBef>
              <a:defRPr sz="3600" b="1">
                <a:solidFill>
                  <a:srgbClr val="FF6B4A"/>
                </a:solidFill>
              </a:defRPr>
            </a:pPr>
            <a:r>
              <a:t>+17.4%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Lowest-income quintile penalty for identical hazard.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402336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F62FE"/>
                </a:solidFill>
              </a:defRPr>
            </a:pPr>
            <a:r>
              <a:t>NON-RENEWAL RATIO</a:t>
            </a:r>
          </a:p>
          <a:p>
            <a:pPr>
              <a:spcBef>
                <a:spcPts val="800"/>
              </a:spcBef>
              <a:defRPr sz="3600" b="1">
                <a:solidFill>
                  <a:srgbClr val="00D2D3"/>
                </a:solidFill>
              </a:defRPr>
            </a:pPr>
            <a:r>
              <a:t>2.01x</a:t>
            </a:r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t>Lowest vs highest income quintile drop 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TRUST &amp; VALIDATION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Model &amp; Placebo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84048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D2D3"/>
                </a:solidFill>
              </a:defRPr>
            </a:pPr>
            <a:r>
              <a:t>RISK MODEL INTEGRITY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- Temporal AUC: 0.720</a:t>
            </a:r>
            <a:br/>
            <a:r>
              <a:t>- Brier Skill Score: +0.019</a:t>
            </a:r>
            <a:br/>
            <a:r>
              <a:t>- Zero demographic 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5120640" cy="384048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ED573"/>
                </a:solidFill>
              </a:defRPr>
            </a:pPr>
            <a:r>
              <a:t>500-RUN PLACEBO AUDIT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- Mean false gap: +0.04%</a:t>
            </a:r>
            <a:br/>
            <a:r>
              <a:t>- False-positive rate: 5.8%</a:t>
            </a:r>
            <a:br/>
            <a:r>
              <a:t>- Zero spurious bias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INTERACTIVE DEMO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Geospatial Dashboard</a:t>
            </a:r>
          </a:p>
        </p:txBody>
      </p:sp>
      <p:pic>
        <p:nvPicPr>
          <p:cNvPr id="4" name="Picture 3" descr="streamlit_app_loa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5212080" cy="2845173"/>
          </a:xfrm>
          <a:prstGeom prst="rect">
            <a:avLst/>
          </a:prstGeom>
        </p:spPr>
      </p:pic>
      <p:pic>
        <p:nvPicPr>
          <p:cNvPr id="5" name="Picture 4" descr="pitch_two_tract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11680"/>
            <a:ext cx="5212080" cy="21890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Choropleth map, risk vs premium scatter, and property counterfactuals.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IBM Z ARCHITECTURE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Tested VM vs. Production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D2D3"/>
                </a:solidFill>
              </a:defRPr>
            </a:pPr>
            <a:r>
              <a:t>RAN ON LINUXONE VM (AMD64)</a:t>
            </a:r>
          </a:p>
          <a:p>
            <a:pPr>
              <a:spcBef>
                <a:spcPts val="800"/>
              </a:spcBef>
              <a:defRPr sz="1500">
                <a:solidFill>
                  <a:srgbClr val="FFFFFF"/>
                </a:solidFill>
              </a:defRPr>
            </a:pPr>
            <a:r>
              <a:t>- Full pipeline executed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91840"/>
            <a:ext cx="4572000" cy="2560320"/>
          </a:xfrm>
          <a:prstGeom prst="rect">
            <a:avLst/>
          </a:prstGeom>
          <a:solidFill>
            <a:srgbClr val="0F172A"/>
          </a:solidFill>
          <a:ln>
            <a:solidFill>
              <a:srgbClr val="00D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D2D3"/>
                </a:solidFill>
              </a:defRPr>
            </a:pPr>
            <a:r>
              <a:t>INSERT VM SCREENSHOT</a:t>
            </a:r>
            <a:br/>
            <a:r>
              <a:t>(uname -m + output)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4A3B8"/>
                </a:solidFill>
              </a:defRPr>
            </a:pPr>
            <a:r>
              <a:t>PRODUCTION PATH (NOT TESTED)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- Db2 in-place analytics</a:t>
            </a:r>
            <a:br/>
            <a:r>
              <a:t>- Telum AI via ONNX</a:t>
            </a:r>
            <a:br/>
            <a:r>
              <a:t>- watsonx.governance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RESPONSIBLE AI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Governance &amp; Disclosures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402336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- Demographics strictly quarantined for auditing only.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- Disparities are screening flags, not intent proof.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- Underwriting data is synthetic on real Census boundaries.</a:t>
            </a:r>
          </a:p>
          <a:p>
            <a:pPr>
              <a:spcBef>
                <a:spcPts val="1600"/>
              </a:spcBef>
              <a:defRPr sz="1600">
                <a:solidFill>
                  <a:srgbClr val="FFFFFF"/>
                </a:solidFill>
              </a:defRPr>
            </a:pPr>
            <a:r>
              <a:t>- Unobserved physical hazards may explain residual variance.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IMPACT &amp; ROADMAP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Stakeholder Impact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120640" cy="384048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ED573"/>
                </a:solidFill>
              </a:defRPr>
            </a:pPr>
            <a:r>
              <a:t>WHO BENEFITS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- Regulators: automated rate audits</a:t>
            </a:r>
            <a:br/>
            <a:r>
              <a:t>- Insurers: proactive compliance</a:t>
            </a:r>
            <a:br/>
            <a:r>
              <a:t>- Homeowners: mitigation ROI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011680"/>
            <a:ext cx="5120640" cy="3840480"/>
          </a:xfrm>
          <a:prstGeom prst="roundRect">
            <a:avLst/>
          </a:prstGeom>
          <a:solidFill>
            <a:srgbClr val="14203C"/>
          </a:solidFill>
          <a:ln>
            <a:solidFill>
              <a:srgbClr val="26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62FE"/>
                </a:solidFill>
              </a:defRPr>
            </a:pPr>
            <a:r>
              <a:t>IBM Z ROADMAP</a:t>
            </a:r>
          </a:p>
          <a:p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- Ingest state rate filings</a:t>
            </a:r>
            <a:br/>
            <a:r>
              <a:t>- Continuous Db2 in-place audits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WILDFIRE EQUITY MAP</a:t>
            </a:r>
          </a:p>
          <a:p>
            <a:pPr>
              <a:spcBef>
                <a:spcPts val="1200"/>
              </a:spcBef>
              <a:defRPr sz="2000">
                <a:solidFill>
                  <a:srgbClr val="00D2D3"/>
                </a:solidFill>
              </a:defRPr>
            </a:pPr>
            <a:r>
              <a:t>Auditing rate fairness in an era of climate volatility.</a:t>
            </a:r>
          </a:p>
          <a:p>
            <a:pPr>
              <a:spcBef>
                <a:spcPts val="2000"/>
              </a:spcBef>
              <a:defRPr sz="1600" b="1">
                <a:solidFill>
                  <a:srgbClr val="0F62FE"/>
                </a:solidFill>
              </a:defRPr>
            </a:pPr>
            <a:r>
              <a:t>GitHub: https://github.com/thor11223344/Flare-AI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</a:defRPr>
            </a:pPr>
            <a:r>
              <a:t>Disclosed: Built with Antigravity AI coding assistance.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