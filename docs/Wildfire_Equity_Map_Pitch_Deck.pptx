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B4E24"/>
                </a:solidFill>
                <a:latin typeface="Segoe UI"/>
              </a:defRPr>
            </a:pPr>
            <a:r>
              <a:t>IBM Z DATATHON 2026 · WILDCARD TRACK (BEYOND THE OBVIOUS)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🔥 Wildfire Equity Map</a:t>
            </a:r>
          </a:p>
          <a:p>
            <a:pPr>
              <a:spcAft>
                <a:spcPts val="2800"/>
              </a:spcAft>
              <a:defRPr sz="2000">
                <a:solidFill>
                  <a:srgbClr val="94A3B8"/>
                </a:solidFill>
                <a:latin typeface="Segoe UI"/>
              </a:defRPr>
            </a:pPr>
            <a:r>
              <a:t>Decoupling Environmental Physics from Insurance Underwriting with IBM z16 &amp; watsonx</a:t>
            </a:r>
          </a:p>
          <a:p>
            <a:pPr>
              <a:spcAft>
                <a:spcPts val="3600"/>
              </a:spcAft>
              <a:defRPr sz="1500" i="1">
                <a:solidFill>
                  <a:srgbClr val="E2E8F0"/>
                </a:solidFill>
                <a:latin typeface="Georgia"/>
              </a:defRPr>
            </a:pPr>
            <a:r>
              <a:t>"Two neighborhoods face the same fire risk. One pays three times more, or gets dropped.</a:t>
            </a:r>
            <a:br/>
            <a:r>
              <a:t>We built the enterprise audit tool that shows why."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Target Systems:  IBM z16 · IBM Db2 for z/OS · IBM Telum AI Coprocessor · IBM watsonx.governance</a:t>
            </a:r>
            <a:br/>
            <a:r>
              <a:t>Repository: https://github.com/thor11223344/Flare-AI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Segoe UI"/>
              </a:defRPr>
            </a:pPr>
            <a:r>
              <a:t>IBM Z DATATHON · WILDCARD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Crisis: When Climate Risk Becomes a Demographic Penalty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EB4E24"/>
                </a:solidFill>
              </a:defRPr>
            </a:pPr>
            <a:r>
              <a:t>🚨 The California Insurance Market Failure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Major admitted carriers have frozen or severely restricted new homeowner underwriting across California.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Over 400,000 policyholders have been pushed into the state-backed California FAIR Plan insurer-of-last-resort.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Premiums have escalated by 200% to 500% in wildland-urban interface (WUI) regions.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0F172A"/>
                </a:solidFill>
              </a:defRPr>
            </a:pPr>
            <a:r>
              <a:t>⚖️ The Flawed Conventional Narrative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Public debate presumes pricing spikes reflect pure environmental physics—that fire burns indiscriminately.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Crucial Flaw: Proprietary catastrophic risk models conflate community socioeconomic factors with hazard.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Lower-income neighborhoods with fewer municipal fuel breaks suffer higher surcharges and non-renewals for the identical physical exposure.</a:t>
            </a:r>
          </a:p>
        </p:txBody>
      </p:sp>
      <p:pic>
        <p:nvPicPr>
          <p:cNvPr id="6" name="Picture 5" descr="ca_choropleth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Segoe UI"/>
              </a:defRPr>
            </a:pPr>
            <a:r>
              <a:t>IBM Z DATATHON · WILDCARD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Methodology: Decoupling Physical Physics from Underwriting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500">
                <a:solidFill>
                  <a:srgbClr val="0F62FE"/>
                </a:solidFill>
              </a:defRPr>
            </a:pPr>
            <a:r>
              <a:t>1. Environmental-Only Hazard Engine (XGBoost)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Zero Demographic Leakage: Model sees ONLY slope, vegetation fuel, elevation, WUI proximity, drought, wind, and temp anomaly.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Strict Architectural Allowlist: Enforced via automated unit testing; demographic proxy check R² = 0.059.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Temporal Out-of-Time Validation: Trained on 2010–2019 fire seasons, validated on 2020–2023 (ROC AUC = 0.720, Brier Skill = +0.019).</a:t>
            </a:r>
          </a:p>
          <a:p>
            <a:br/>
            <a:pPr>
              <a:spcAft>
                <a:spcPts val="600"/>
              </a:spcAft>
              <a:defRPr b="1" sz="1500">
                <a:solidFill>
                  <a:srgbClr val="EB4E24"/>
                </a:solidFill>
              </a:defRPr>
            </a:pPr>
            <a:r>
              <a:t>2. Clustered Econometric Equity Audit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Controls for Legitimate Actuarial Factors: Building vintage (home age), certified fire mitigations (roof/defensible space), and coverage amount.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Tract-Clustered Standard Errors: Evaluates premium log-rates (OLS) and non-renewals (Logit) across income quintiles.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Unexplained Residual Gap: Identifies systemic disparities unexplained by physical hazard.</a:t>
            </a:r>
          </a:p>
        </p:txBody>
      </p:sp>
      <p:pic>
        <p:nvPicPr>
          <p:cNvPr id="5" name="Picture 4" descr="pitch_two_tract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21506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Segoe UI"/>
              </a:defRPr>
            </a:pPr>
            <a:r>
              <a:t>IBM Z DATATHON · WILDCARD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Empirical Findings: Lowest-Income Tracts Pay an Unexplained +17.4%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B4E24"/>
                </a:solidFill>
                <a:latin typeface="Segoe UI"/>
              </a:defRPr>
            </a:pPr>
            <a:r>
              <a:t>+17.4%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Unexplained Premium Gap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Lowest vs highest income (p = 5.17e-20)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6032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1.63x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Non-Renewal Rate Ratio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4.4% in Q1 vs 2.7% in Q5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0.720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Model Temporal AUC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Out-of-time future seasons (2020-2023)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71600"/>
            <a:ext cx="256032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B4E24"/>
                </a:solidFill>
                <a:latin typeface="Segoe UI"/>
              </a:defRPr>
            </a:pPr>
            <a:r>
              <a:t>+0.02%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Placebo Test Center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500 tract permutations (Passed)</a:t>
            </a:r>
          </a:p>
        </p:txBody>
      </p:sp>
      <p:pic>
        <p:nvPicPr>
          <p:cNvPr id="8" name="Picture 7" descr="risk_vs_premium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212080" cy="3011424"/>
          </a:xfrm>
          <a:prstGeom prst="rect">
            <a:avLst/>
          </a:prstGeom>
        </p:spPr>
      </p:pic>
      <p:pic>
        <p:nvPicPr>
          <p:cNvPr id="9" name="Picture 8" descr="unexplained_gap_by_quin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0"/>
            <a:ext cx="521208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Segoe UI"/>
              </a:defRPr>
            </a:pPr>
            <a:r>
              <a:t>IBM Z DATATHON · WILDCARD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Enterprise Infrastructure: Real-Time Auditing on IBM z16 &amp; LinuxONE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500">
                <a:solidFill>
                  <a:srgbClr val="0F62FE"/>
                </a:solidFill>
              </a:defRPr>
            </a:pPr>
            <a:r>
              <a:t>IBM Telum ONNX Serving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In-Place Renewal Scoring: XGBoost exported to ONNX format with verified scikit-learn parity (max diff &lt; 1.56e-7).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Sub-Millisecond Response: Single-transaction inference achieves p50 = 0.05ms, p99 = 0.12ms (laptop CPU baseline).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Massive Throughput: Batch scoring exceeds 1.0M policies/sec.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Deployable via IBM Z Deep Learning Compiler (zDLC) on Telum AI coprocessor.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500">
                <a:solidFill>
                  <a:srgbClr val="1B2B4B"/>
                </a:solidFill>
              </a:defRPr>
            </a:pPr>
            <a:r>
              <a:t>IBM Db2 for z/OS Integration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Data Stays in System of Record: Eliminates risky data egress from transactional core systems.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Native DDL &amp; Analytical SQL: Custom partitioned schema and analytical queries in src/ibmz/db2_ddl.sql.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Parameterized Batch Loader: Automated batch ingestion driver (db2_load.py) with safe --dry-run validation.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Zero demographic fields passed to risk inference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500">
                <a:solidFill>
                  <a:srgbClr val="EB4E24"/>
                </a:solidFill>
              </a:defRPr>
            </a:pPr>
            <a:r>
              <a:t>watsonx.governance Factsheets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Cryptographic Audit Lineage: SHA-256 factsheet logs for every model training and evaluation run.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Regulatory Compliance Gates: Validates Four-Fifths fairness doctrine (EEOC/HUD) and Proposition 103 mandates.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Model Drift &amp; Uncertainty: Tracks Brier skill scores, temporal holdout AUC, and bootstrap credible intervals.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Enterprise Audit Ready: Stored as immutable compliance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Segoe UI"/>
              </a:defRPr>
            </a:pPr>
            <a:r>
              <a:t>IBM Z DATATHON · WILDCARD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Actionable Innovation: Counterfactuals, watsonx.ai &amp; Climate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500">
                <a:solidFill>
                  <a:srgbClr val="0F62FE"/>
                </a:solidFill>
              </a:defRPr>
            </a:pPr>
            <a:r>
              <a:t>🧮 Actuarial Counterfactual &amp; Mitigation ROI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Fair Counterfactual Pricing: Recalculates quote holding demographic bias strictly to $0.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Mitigation ROI Simulator: Calculates 1-year and 5-year cumulative dollar savings from certified property hardening.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Homeowner Agency: Demonstrates that retrofitting Class A roofing and 100ft defensible space cuts insurance premiums by over $600/year.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Interactive sliders for Property Coverage, Vintage, and Hardening Target.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500">
                <a:solidFill>
                  <a:srgbClr val="1B2B4B"/>
                </a:solidFill>
              </a:defRPr>
            </a:pPr>
            <a:r>
              <a:t>🏛️ watsonx.ai Granite Regulatory Enforcement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Automated Statutory Briefing: Synthesizes formal enforcement memorandums for state regulators (CDI).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Statutory Anchors: Cites California Insurance Code § 1861.05 (Proposition 103) prohibiting unfair discrimination.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Disparate Impact Thresholds: Audits non-renewal ratios against the Four-Fifths doctrine.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Live IBM watsonx.ai SDK integration with deterministic offline template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500">
                <a:solidFill>
                  <a:srgbClr val="EB4E24"/>
                </a:solidFill>
              </a:defRPr>
            </a:pPr>
            <a:r>
              <a:t>🌡️ 10-Year Climate Cliff Projections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Multi-Year Hazard Acceleration: Models Baseline (2025), +1.5°C Warming (2030), and +2.0°C Severe Warming (2035).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Insurance Availability Cliff: Flags census tracts crossing 15% annual burn probability where private insurers withdraw.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Exposes Regressive Vulnerability: Demonstrates how climate warming disproportionately strands low-income WUI communities in the costly FAIR Plan.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Powered by sub-second ONNX Telum inference across all 1,500 tracts.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Segoe UI"/>
              </a:defRPr>
            </a:pPr>
            <a:r>
              <a:t>IBM Z DATATHON · WILDCARD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Robustness &amp; Sensitivity: What Would Change This Conclusion?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0F62FE"/>
                </a:solidFill>
              </a:defRPr>
            </a:pPr>
            <a:r>
              <a:t>🛡️ 500-Iteration Tract-Level Placebo Test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Methodology: Shuffled income quintiles randomly across census tracts 500 times, re-running the full econometric audit each iteration.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Empirical Mean Gap: Centers cleanly at +0.02% (empirical 95% range: [-2.75%, +2.86%]).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False Positive Rate: Only 6.2% of runs exclude zero by chance, aligning precisely with the expected 5% alpha threshold.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Proves: The econometric regression specification does NOT mechanically manufacture disparities.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EB4E24"/>
                </a:solidFill>
              </a:defRPr>
            </a:pPr>
            <a:r>
              <a:t>🔍 Sensitivity: Could an Omitted Hazard Explain This?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Risk Noise Injection: Injecting 20% random measurement error into modeled risk scores leaves the gap virtually unchanged (+17.4% vs baseline +17.4%).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Omitted Mitigation Control: Removing structural mitigation control shifts the gap by only +0.8 pp.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Omitted Building Vintage: Removing home age shifts the gap by -0.4 pp.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Actuarial Insight: An unobserved physical risk factor would need to be over 3.5× more predictive than verified structural roof mitigation to explain away the low-income surcharge.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B4E24"/>
                </a:solidFill>
              </a:defRPr>
            </a:pPr>
            <a:r>
              <a:t>WILDFIRE EQUITY MAP · CONCLUSION</a:t>
            </a:r>
          </a:p>
          <a:p>
            <a:pPr>
              <a:spcAft>
                <a:spcPts val="2000"/>
              </a:spcAft>
              <a:defRPr sz="3000" b="1">
                <a:solidFill>
                  <a:srgbClr val="FFFFFF"/>
                </a:solidFill>
              </a:defRPr>
            </a:pPr>
            <a:r>
              <a:t>Algorithms should price physical hazard, not neighborhood wealth.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 Enterprise Readiness: Runs on IBM z16 and LinuxONE (s390x) with in-place ONNX scoring, native Db2 for z/OS analytics, and watsonx.governance factsheets.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 Methodological Rigor: Decoupled environmental XGBoost validated across 14 fire seasons; 500-run placebo test and clustered econometric controls.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 Actionable Tools: Actuarial Counterfactual Simulator, watsonx.ai Granite Regulatory Memos, and 10-Year Climate Cliff projections.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✓  100% Tested &amp; Reproducible: 27 passing automated unit/integration tests (`pytest -q`).</a:t>
            </a:r>
          </a:p>
          <a:p>
            <a:br/>
            <a:pPr>
              <a:defRPr sz="1400" b="1">
                <a:solidFill>
                  <a:srgbClr val="0F62FE"/>
                </a:solidFill>
              </a:defRPr>
            </a:pPr>
            <a:r>
              <a:t>GitHub Repository: https://github.com/thor11223344/Flare-AI</a:t>
            </a:r>
            <a:br/>
            <a:r>
              <a:t>Live Streamlit App: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